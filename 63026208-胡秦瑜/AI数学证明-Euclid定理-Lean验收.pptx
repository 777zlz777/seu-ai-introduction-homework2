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0332720" cy="603504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总体目标：AI 生成候选证明，Lean 独立验收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92256" y="384048"/>
            <a:ext cx="603504" cy="26517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54512" cy="31089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F7181"/>
                </a:solidFill>
                <a:latin typeface="Times New Roman"/>
                <a:ea typeface="Times New Roman"/>
                <a:cs typeface="Times New Roman"/>
              </a:rPr>
              <a:t>实验目标：用 Lean 4 + Mathlib 把「对任意正整数 n，存在素数 p &gt; n」形式化，并让机器独立验证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481328"/>
            <a:ext cx="10972800" cy="1700784"/>
          </a:xfrm>
          <a:prstGeom prst="rect">
            <a:avLst/>
          </a:prstGeom>
          <a:solidFill>
            <a:srgbClr val="F0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91056"/>
            <a:ext cx="10332720" cy="49377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主命题（Euclid 定理）：对任意正整数 n，存在素数 p &gt;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0332720" cy="98755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示例：n = 3 时取 p = 5；n = 10 时取 p = 11；n = 100 时取 p = 101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思路：取 n! + 1 的素因子 p；若 p ≤ n，则 p ∣ n! 且 p ∣ n! + 1，故 p ∣ 1，矛盾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意义：这是构造性证明，没有「打表」捷径，正好用来检验 AI 的多步推理与自我修正能力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3310128"/>
            <a:ext cx="10607040" cy="1225296"/>
          </a:xfrm>
          <a:prstGeom prst="rect">
            <a:avLst/>
          </a:prstGeom>
          <a:solidFill>
            <a:srgbClr val="10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310128"/>
            <a:ext cx="10607040" cy="1225296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分工：AI 负责提出候选证明，Lean 负责独立裁决 —— 谁都不能自己说「对了」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 通过：0 error + 0 warning，且公理依赖只含三条标准公理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4681728"/>
            <a:ext cx="932688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执行步骤：四步依次对应第 2 页、第 3–4 页、第 5 页、第 6 页</a:t>
            </a:r>
          </a:p>
        </p:txBody>
      </p:sp>
      <p:sp>
        <p:nvSpPr>
          <p:cNvPr id="12" name="Pentagon 11"/>
          <p:cNvSpPr/>
          <p:nvPr/>
        </p:nvSpPr>
        <p:spPr>
          <a:xfrm>
            <a:off x="603504" y="5120640"/>
            <a:ext cx="2706624" cy="640080"/>
          </a:xfrm>
          <a:prstGeom prst="homePlate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8288" rIns="256032" bIns="18288"/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S1  验证 Lean 环境</a:t>
            </a:r>
          </a:p>
        </p:txBody>
      </p:sp>
      <p:sp>
        <p:nvSpPr>
          <p:cNvPr id="13" name="Chevron 12"/>
          <p:cNvSpPr/>
          <p:nvPr/>
        </p:nvSpPr>
        <p:spPr>
          <a:xfrm>
            <a:off x="3346704" y="5120640"/>
            <a:ext cx="2706624" cy="640080"/>
          </a:xfrm>
          <a:prstGeom prst="chevron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8288" rIns="256032" bIns="18288"/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S2  生成候选代码</a:t>
            </a:r>
          </a:p>
        </p:txBody>
      </p:sp>
      <p:sp>
        <p:nvSpPr>
          <p:cNvPr id="14" name="Chevron 13"/>
          <p:cNvSpPr/>
          <p:nvPr/>
        </p:nvSpPr>
        <p:spPr>
          <a:xfrm>
            <a:off x="6089904" y="5120640"/>
            <a:ext cx="2706624" cy="640080"/>
          </a:xfrm>
          <a:prstGeom prst="chevron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8288" rIns="256032" bIns="18288"/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S3  查看验证结果</a:t>
            </a:r>
          </a:p>
        </p:txBody>
      </p:sp>
      <p:sp>
        <p:nvSpPr>
          <p:cNvPr id="15" name="Chevron 14"/>
          <p:cNvSpPr/>
          <p:nvPr/>
        </p:nvSpPr>
        <p:spPr>
          <a:xfrm>
            <a:off x="8833104" y="5120640"/>
            <a:ext cx="2706624" cy="640080"/>
          </a:xfrm>
          <a:prstGeom prst="chevron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tIns="18288" rIns="256032" bIns="18288"/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S4  修订并重检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309360"/>
            <a:ext cx="731520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7181"/>
                </a:solidFill>
                <a:latin typeface="Times New Roman"/>
                <a:ea typeface="Times New Roman"/>
                <a:cs typeface="Times New Roman"/>
              </a:rPr>
              <a:t>AI 辅助形式化证明 · 课堂演示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274320"/>
            <a:ext cx="585216" cy="585216"/>
          </a:xfrm>
          <a:prstGeom prst="ellipse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329184"/>
            <a:ext cx="10332720" cy="603504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第一步：验证 Lean 在线环境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54512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F7181"/>
                </a:solidFill>
                <a:latin typeface="Times New Roman"/>
                <a:ea typeface="Times New Roman"/>
                <a:cs typeface="Times New Roman"/>
              </a:rPr>
              <a:t>打开 live.lean-lang.org 并选带 Mathlib 的项目；先用 #check 把要用的引理逐个核对一遍，再写证明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84048"/>
            <a:ext cx="603504" cy="26517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7571231" cy="369331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05-lemma-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17904"/>
            <a:ext cx="7498079" cy="36201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1499616"/>
            <a:ext cx="3246120" cy="38404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在线 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883664"/>
            <a:ext cx="324612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67A5"/>
                </a:solidFill>
                <a:latin typeface="Consolas"/>
                <a:ea typeface="Consolas"/>
                <a:cs typeface="Consolas"/>
              </a:rPr>
              <a:t>live.lean-lang.org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67712"/>
            <a:ext cx="3291840" cy="11887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· 选 Latest Mathlib with Lean v4.36.0-rc1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· 左侧写代码，右侧消息区给结论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· 免安装，浏览器里直接跑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74720"/>
            <a:ext cx="3246120" cy="31089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本地等价环境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803904"/>
            <a:ext cx="3291840" cy="877824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elan + Lean 4 + Mathlib（lake exe cache get）；本地受阻时随时退回在线版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5285232"/>
            <a:ext cx="3511296" cy="1097280"/>
          </a:xfrm>
          <a:prstGeom prst="rect">
            <a:avLst/>
          </a:prstGeom>
          <a:solidFill>
            <a:srgbClr val="F0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5285232"/>
            <a:ext cx="54864" cy="1097280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358384"/>
            <a:ext cx="3145536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版本已验证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650992"/>
            <a:ext cx="3145536" cy="6583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Latest Mathlib + Lean v4.36.0-rc1，import Mathlib 可用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5285232"/>
            <a:ext cx="3511296" cy="1097280"/>
          </a:xfrm>
          <a:prstGeom prst="rect">
            <a:avLst/>
          </a:prstGeom>
          <a:solidFill>
            <a:srgbClr val="F0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5112" y="5285232"/>
            <a:ext cx="54864" cy="1097280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5358384"/>
            <a:ext cx="3145536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7 条引理全部命中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5650992"/>
            <a:ext cx="3145536" cy="6583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先 #check 再写，避免 application type mismatch 连环报错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5285232"/>
            <a:ext cx="3511296" cy="1097280"/>
          </a:xfrm>
          <a:prstGeom prst="rect">
            <a:avLst/>
          </a:prstGeom>
          <a:solidFill>
            <a:srgbClr val="F0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5285232"/>
            <a:ext cx="54864" cy="1097280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5358384"/>
            <a:ext cx="3145536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粘贴即检查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5650992"/>
            <a:ext cx="3145536" cy="6583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左侧写代码、右侧看消息，不用手敲命令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274320"/>
            <a:ext cx="585216" cy="585216"/>
          </a:xfrm>
          <a:prstGeom prst="ellipse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329184"/>
            <a:ext cx="10332720" cy="603504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第二步：输入提示词，生成候选代码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54512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F7181"/>
                </a:solidFill>
                <a:latin typeface="Times New Roman"/>
                <a:ea typeface="Times New Roman"/>
                <a:cs typeface="Times New Roman"/>
              </a:rPr>
              <a:t>一条提示词同时交代题目、声明、禁止项与自检项，并要求只输出一个 Lean 代码块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84048"/>
            <a:ext cx="603504" cy="26517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9864" y="1408176"/>
            <a:ext cx="5742432" cy="337128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01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44752"/>
            <a:ext cx="5669280" cy="32981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4809744"/>
            <a:ext cx="566928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实际使用的提示词（截图存档，未改写）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2194560" cy="38404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4709160" cy="159105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· 命题：任意正整数 n，要求 p &gt; 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· 声明：theorem 一行一字不差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· 禁止：sorry、admit、新增 axiom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· 自检：末尾 #print axioms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32688" y="3785615"/>
            <a:ext cx="310896" cy="365760"/>
          </a:xfrm>
          <a:prstGeom prst="downArrow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822191"/>
            <a:ext cx="146304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AI 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2194560" cy="38404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73168"/>
            <a:ext cx="4709160" cy="84124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· 5 行以内的数学解释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· 一个可直接编译的代码块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5541264"/>
            <a:ext cx="10954512" cy="786384"/>
          </a:xfrm>
          <a:prstGeom prst="rect">
            <a:avLst/>
          </a:prstGeom>
          <a:solidFill>
            <a:srgbClr val="F0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5541264"/>
            <a:ext cx="54864" cy="786384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614416"/>
            <a:ext cx="10424160" cy="6583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对应关系：提示词里的六条约束，正是后面验收清单的来源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声明一字不差 → 命题一致 ｜ 禁 sorry → 无 sorryAx ｜ #print axioms → 公理可审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274320"/>
            <a:ext cx="585216" cy="585216"/>
          </a:xfrm>
          <a:prstGeom prst="ellipse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329184"/>
            <a:ext cx="10332720" cy="603504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第二步：AI 给出的候选代码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54512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F7181"/>
                </a:solidFill>
                <a:latin typeface="Times New Roman"/>
                <a:ea typeface="Times New Roman"/>
                <a:cs typeface="Times New Roman"/>
              </a:rPr>
              <a:t>声明与板书一字不差；用 n! + 1 的素因子构造 p，再反设 p ≤ n 导出矛盾；末尾自带公理自检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84048"/>
            <a:ext cx="603504" cy="26517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481328"/>
            <a:ext cx="6355080" cy="4498848"/>
          </a:xfrm>
          <a:prstGeom prst="rect">
            <a:avLst/>
          </a:prstGeom>
          <a:solidFill>
            <a:srgbClr val="10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481328"/>
            <a:ext cx="6355080" cy="4498848"/>
          </a:xfrm>
          <a:prstGeom prst="rect">
            <a:avLst/>
          </a:prstGeom>
          <a:noFill/>
        </p:spPr>
        <p:txBody>
          <a:bodyPr wrap="square" anchor="ctr" lIns="164592" tIns="91440" rIns="164592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Mathlib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theorem exists_prime_gt (n : ℕ) (hn : 0 &lt; n) 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∃ p : ℕ, n &lt; p ∧ p.Prime :=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have hm : Nat.factorial n + 1 ≠ 1 :=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have hpos : 0 &lt; Nat.factorial n :=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Nat.factorial_pos 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omega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obtain ⟨p, hp_prime, hp_dvd⟩ :=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Nat.exists_prime_and_dvd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(n := Nat.factorial n + 1) hm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refine ⟨p, ?_, hp_prime⟩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by_contra 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push_neg at 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have hp_dvd_fact : p ∣ Nat.factorial n :=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Nat.dvd_factorial hp_prime.pos 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have hp_dvd_one : p ∣ 1 :=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(Nat.dvd_add_iff_right hp_dvd_fact).mpr hp_dvd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exact hp_prime.not_dvd_one hp_dvd_one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#print axioms exists_prime_gt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517904"/>
            <a:ext cx="4434840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① 数学注释写在最前面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16052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顶部 5 行把 Euclid 原证的推理链交代清楚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04288"/>
            <a:ext cx="4434840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② 声明与板书一致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569464"/>
            <a:ext cx="416052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n : ℕ，结论 n &lt; p ∧ p.Prime，未被简化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090672"/>
            <a:ext cx="4434840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③ 构造走 n! + 1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355848"/>
            <a:ext cx="416052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obtain 取素因子 p，by_contra 反设 p ≤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77056"/>
            <a:ext cx="4434840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④ 末尾自带公理自检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142232"/>
            <a:ext cx="4160520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#print axioms 写在文件末尾，验收直接读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4773168"/>
            <a:ext cx="4434840" cy="1207008"/>
          </a:xfrm>
          <a:prstGeom prst="rect">
            <a:avLst/>
          </a:prstGeom>
          <a:solidFill>
            <a:srgbClr val="F7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4773168"/>
            <a:ext cx="54864" cy="1207008"/>
          </a:xfrm>
          <a:prstGeom prst="rect">
            <a:avLst/>
          </a:prstGeom>
          <a:solidFill>
            <a:srgbClr val="AD4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5" y="4846320"/>
            <a:ext cx="4114800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D493B"/>
                </a:solidFill>
                <a:latin typeface="微软雅黑"/>
                <a:ea typeface="微软雅黑"/>
                <a:cs typeface="微软雅黑"/>
              </a:rPr>
              <a:t>留意：声明里的 hn 是冗余假设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5120640"/>
            <a:ext cx="4114800" cy="786384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n = 0 时取 p = 2 也成立，所以 hn 并未被引用 —— 下一屏 Lean 就会就此报警告。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274320"/>
            <a:ext cx="585216" cy="585216"/>
          </a:xfrm>
          <a:prstGeom prst="ellipse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329184"/>
            <a:ext cx="10332720" cy="603504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第三步：查看验证结果（第一次编译）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54512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F7181"/>
                </a:solidFill>
                <a:latin typeface="Times New Roman"/>
                <a:ea typeface="Times New Roman"/>
                <a:cs typeface="Times New Roman"/>
              </a:rPr>
              <a:t>0 error，但消息区出现 2 条 linter 警告 —— 这还不能算通过，必须退回修订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84048"/>
            <a:ext cx="603504" cy="26517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7525512" cy="3688073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03-compile-war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17904"/>
            <a:ext cx="7452360" cy="36149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320" y="1499616"/>
            <a:ext cx="324612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Lean 消息区（原文）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847088"/>
            <a:ext cx="3218688" cy="1719072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47088"/>
            <a:ext cx="3218688" cy="1719072"/>
          </a:xfrm>
          <a:prstGeom prst="rect">
            <a:avLst/>
          </a:prstGeom>
          <a:noFill/>
        </p:spPr>
        <p:txBody>
          <a:bodyPr wrap="square" anchor="ctr" lIns="146304" tIns="91440" rIns="128016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314B"/>
                </a:solidFill>
                <a:latin typeface="Consolas"/>
                <a:ea typeface="Consolas"/>
                <a:cs typeface="Consolas"/>
              </a:rPr>
              <a:t>MathlibDemo.lean:3:33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314B"/>
                </a:solidFill>
                <a:latin typeface="Consolas"/>
                <a:ea typeface="Consolas"/>
                <a:cs typeface="Consolas"/>
              </a:rPr>
              <a:t>Variable name `hn` is not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>
                <a:solidFill>
                  <a:srgbClr val="16314B"/>
                </a:solidFill>
                <a:latin typeface="Consolas"/>
                <a:ea typeface="Consolas"/>
                <a:cs typeface="Consolas"/>
              </a:rPr>
              <a:t>explicitly referenced.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314B"/>
                </a:solidFill>
                <a:latin typeface="Consolas"/>
                <a:ea typeface="Consolas"/>
                <a:cs typeface="Consolas"/>
              </a:rPr>
              <a:t>MathlibDemo.lean:11:2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314B"/>
                </a:solidFill>
                <a:latin typeface="Consolas"/>
                <a:ea typeface="Consolas"/>
                <a:cs typeface="Consolas"/>
              </a:rPr>
              <a:t>`push_neg` has been deprecated.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314B"/>
                </a:solidFill>
                <a:latin typeface="Consolas"/>
                <a:ea typeface="Consolas"/>
                <a:cs typeface="Consolas"/>
              </a:rPr>
              <a:t>Prefer using `push Not` instead.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3712463"/>
            <a:ext cx="3218688" cy="402336"/>
          </a:xfrm>
          <a:prstGeom prst="rect">
            <a:avLst/>
          </a:prstGeom>
          <a:solidFill>
            <a:srgbClr val="F7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D493B"/>
                </a:solidFill>
                <a:latin typeface="微软雅黑"/>
                <a:ea typeface="微软雅黑"/>
                <a:cs typeface="微软雅黑"/>
              </a:rPr>
              <a:t>0 error / 2 warnings —— 不算通过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5285232"/>
            <a:ext cx="5349240" cy="1152144"/>
          </a:xfrm>
          <a:prstGeom prst="rect">
            <a:avLst/>
          </a:prstGeom>
          <a:solidFill>
            <a:srgbClr val="F7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5285232"/>
            <a:ext cx="54864" cy="1152144"/>
          </a:xfrm>
          <a:prstGeom prst="rect">
            <a:avLst/>
          </a:prstGeom>
          <a:solidFill>
            <a:srgbClr val="AD4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358384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AD493B"/>
                </a:solidFill>
                <a:latin typeface="微软雅黑"/>
                <a:ea typeface="微软雅黑"/>
                <a:cs typeface="微软雅黑"/>
              </a:rPr>
              <a:t>判定：本轮不通过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650992"/>
            <a:ext cx="4901184" cy="7132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2 条 linter 警告没有清零。「没有报错」只是编译层面的结论，不等于验收通过。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5285232"/>
            <a:ext cx="5349240" cy="1152144"/>
          </a:xfrm>
          <a:prstGeom prst="rect">
            <a:avLst/>
          </a:prstGeom>
          <a:solidFill>
            <a:srgbClr val="F0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5285232"/>
            <a:ext cx="54864" cy="1152144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5358384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下一步：带着消息原文退回修订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5650992"/>
            <a:ext cx="4901184" cy="7132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把代码与消息原文一起回传 AI，要求只改被指出的两处，声明一个字符都不动。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274320"/>
            <a:ext cx="585216" cy="585216"/>
          </a:xfrm>
          <a:prstGeom prst="ellipse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736" y="329184"/>
            <a:ext cx="10332720" cy="603504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第四步：按反馈修订，重新检查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54512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F7181"/>
                </a:solidFill>
                <a:latin typeface="Times New Roman"/>
                <a:ea typeface="Times New Roman"/>
                <a:cs typeface="Times New Roman"/>
              </a:rPr>
              <a:t>两处改动都不触碰定理声明；改完立刻重跑，直到 0 error / 0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84048"/>
            <a:ext cx="603504" cy="26517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773936"/>
            <a:ext cx="5193792" cy="1353312"/>
          </a:xfrm>
          <a:prstGeom prst="rect">
            <a:avLst/>
          </a:prstGeom>
          <a:solidFill>
            <a:srgbClr val="F0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773936"/>
            <a:ext cx="54864" cy="1353312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4791456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① 抑制「hn 未使用」警告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139696"/>
            <a:ext cx="4681728" cy="402336"/>
          </a:xfrm>
          <a:prstGeom prst="rect">
            <a:avLst/>
          </a:prstGeom>
          <a:solidFill>
            <a:srgbClr val="10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39696"/>
            <a:ext cx="4681728" cy="402336"/>
          </a:xfrm>
          <a:prstGeom prst="rect">
            <a:avLst/>
          </a:prstGeom>
          <a:noFill/>
        </p:spPr>
        <p:txBody>
          <a:bodyPr wrap="square" anchor="ctr" lIns="164592" tIns="91440" rIns="164592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set_option linter.unusedVariables false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15184"/>
            <a:ext cx="4791456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不动声明 —— 这是「命题不可变」原则的可执行版本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3236976"/>
            <a:ext cx="5193792" cy="1883664"/>
          </a:xfrm>
          <a:prstGeom prst="rect">
            <a:avLst/>
          </a:prstGeom>
          <a:solidFill>
            <a:srgbClr val="F0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3236976"/>
            <a:ext cx="54864" cy="1883664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291840"/>
            <a:ext cx="4791456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② push_neg 换成 omega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" y="3602736"/>
            <a:ext cx="4681728" cy="896112"/>
          </a:xfrm>
          <a:prstGeom prst="rect">
            <a:avLst/>
          </a:prstGeom>
          <a:solidFill>
            <a:srgbClr val="10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602736"/>
            <a:ext cx="4681728" cy="896112"/>
          </a:xfrm>
          <a:prstGeom prst="rect">
            <a:avLst/>
          </a:prstGeom>
          <a:noFill/>
        </p:spPr>
        <p:txBody>
          <a:bodyPr wrap="square" anchor="ctr" lIns="164592" tIns="54864" rIns="164592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have hp_le_n : p ≤ n := by omega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have hp_dvd_fact : p ∣ Nat.factorial n :=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Nat.dvd_factorial hp_prime.pos hp_le_n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590288"/>
            <a:ext cx="4791456" cy="4572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直接拿到 p ≤ n，不再依赖已废弃的 push_neg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463040"/>
            <a:ext cx="530352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7B60"/>
                </a:solidFill>
                <a:latin typeface="微软雅黑"/>
                <a:ea typeface="微软雅黑"/>
                <a:cs typeface="微软雅黑"/>
              </a:rPr>
              <a:t>重新检查后：0 error / 0 warning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755648"/>
            <a:ext cx="5376672" cy="263375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04-compile-clean-axi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92224"/>
            <a:ext cx="5303520" cy="25606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3640" y="4480560"/>
            <a:ext cx="2834640" cy="256032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公理依赖（原文）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754880"/>
            <a:ext cx="2834640" cy="1005840"/>
          </a:xfrm>
          <a:prstGeom prst="rect">
            <a:avLst/>
          </a:prstGeom>
          <a:solidFill>
            <a:srgbClr val="10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754880"/>
            <a:ext cx="2834640" cy="1005840"/>
          </a:xfrm>
          <a:prstGeom prst="rect">
            <a:avLst/>
          </a:prstGeom>
          <a:noFill/>
        </p:spPr>
        <p:txBody>
          <a:bodyPr wrap="square" anchor="ctr" lIns="109728" tIns="54864" rIns="109728" bIns="54864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[propext,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Classical.choice,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Quot.sound]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4754880"/>
            <a:ext cx="1737360" cy="310896"/>
          </a:xfrm>
          <a:prstGeom prst="rect">
            <a:avLst/>
          </a:prstGeom>
          <a:solidFill>
            <a:srgbClr val="237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轮通过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5120640"/>
            <a:ext cx="2286000" cy="64008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只含三条标准公理，没有 sorryAx。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10332720" cy="603504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结论：把人工循环固定下来，才是可复现的证明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24128"/>
            <a:ext cx="10954512" cy="36576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F7181"/>
                </a:solidFill>
                <a:latin typeface="Times New Roman"/>
                <a:ea typeface="Times New Roman"/>
                <a:cs typeface="Times New Roman"/>
              </a:rPr>
              <a:t>本次并非「一次通过」——第 2 轮才通过；但代码与消息原文都在，结论才站得住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6" y="384048"/>
            <a:ext cx="603504" cy="265176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517904"/>
            <a:ext cx="534924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验收清单（写进报告）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1901952"/>
            <a:ext cx="310896" cy="310896"/>
          </a:xfrm>
          <a:prstGeom prst="ellipse">
            <a:avLst/>
          </a:prstGeom>
          <a:solidFill>
            <a:srgbClr val="237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1865376"/>
            <a:ext cx="484632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命题与原题一致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2194560"/>
            <a:ext cx="4846320" cy="6583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声明一字未改：n : ℕ，结论 n &lt; p ∧ p.Prime；改的只有 tactic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017520"/>
            <a:ext cx="310896" cy="310896"/>
          </a:xfrm>
          <a:prstGeom prst="ellipse">
            <a:avLst/>
          </a:prstGeom>
          <a:solidFill>
            <a:srgbClr val="237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2980944"/>
            <a:ext cx="484632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0 error / 0 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3310127"/>
            <a:ext cx="4846320" cy="6583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第一次的 2 条 linter 警告已清零，编译干净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133087"/>
            <a:ext cx="310896" cy="310896"/>
          </a:xfrm>
          <a:prstGeom prst="ellipse">
            <a:avLst/>
          </a:prstGeom>
          <a:solidFill>
            <a:srgbClr val="237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4096511"/>
            <a:ext cx="484632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无 sorryAx、无自定义公理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4425696"/>
            <a:ext cx="4846320" cy="65836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公理只剩 [propext, Classical.choice, Quot.sound]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17904"/>
            <a:ext cx="530352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67A5"/>
                </a:solidFill>
                <a:latin typeface="微软雅黑"/>
                <a:ea typeface="微软雅黑"/>
                <a:cs typeface="微软雅黑"/>
              </a:rPr>
              <a:t>可复现要保存的四样东西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20240"/>
            <a:ext cx="146304" cy="146304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1865376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首次代码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2157984"/>
            <a:ext cx="493776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AI 的第一版，含被指出的问题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852928"/>
            <a:ext cx="146304" cy="146304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798064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报错原文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090672"/>
            <a:ext cx="493776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Lean 消息区的文本或截屏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85615"/>
            <a:ext cx="146304" cy="146304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3730752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每轮改动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4023360"/>
            <a:ext cx="493776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改了什么、为什么改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718304"/>
            <a:ext cx="146304" cy="146304"/>
          </a:xfrm>
          <a:prstGeom prst="rect">
            <a:avLst/>
          </a:prstGeom>
          <a:solidFill>
            <a:srgbClr val="1A6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0256" y="4663440"/>
            <a:ext cx="4937760" cy="27432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14B"/>
                </a:solidFill>
                <a:latin typeface="微软雅黑"/>
                <a:ea typeface="微软雅黑"/>
                <a:cs typeface="微软雅黑"/>
              </a:rPr>
              <a:t>最终结果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0256" y="4956048"/>
            <a:ext cx="4937760" cy="292608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7181"/>
                </a:solidFill>
                <a:latin typeface="微软雅黑"/>
                <a:ea typeface="微软雅黑"/>
                <a:cs typeface="微软雅黑"/>
              </a:rPr>
              <a:t>代码 + #print axioms 输出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5431536"/>
            <a:ext cx="10954512" cy="731520"/>
          </a:xfrm>
          <a:prstGeom prst="rect">
            <a:avLst/>
          </a:prstGeom>
          <a:solidFill>
            <a:srgbClr val="10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" y="5431536"/>
            <a:ext cx="54864" cy="731520"/>
          </a:xfrm>
          <a:prstGeom prst="rect">
            <a:avLst/>
          </a:prstGeom>
          <a:solidFill>
            <a:srgbClr val="237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5431536"/>
            <a:ext cx="10954512" cy="731520"/>
          </a:xfrm>
          <a:prstGeom prst="rect">
            <a:avLst/>
          </a:prstGeom>
          <a:noFill/>
        </p:spPr>
        <p:txBody>
          <a:bodyPr wrap="square" anchor="ctr" lIns="310896" tIns="0" rIns="219456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认识：AI 生成候选、Lean 独立裁决 —— 把中间的「人肉复制粘贴」固定成流程，证明才可复现、可审计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